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57" r:id="rId5"/>
    <p:sldId id="259" r:id="rId6"/>
    <p:sldId id="260" r:id="rId7"/>
    <p:sldId id="261" r:id="rId8"/>
    <p:sldId id="262" r:id="rId9"/>
    <p:sldId id="264" r:id="rId10"/>
    <p:sldId id="265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33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03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38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894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66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08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72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56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43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63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32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256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6968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667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784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64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2FC51-379C-4A02-9747-E143B9C1060D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962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forms.gle/JzBiagKbCBp7vZeCA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D36D-4773-4569-3253-E339E2AC9A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NYC Shooting Cluster Analysis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64692-47BD-ACAA-440E-07BE764C0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Pritam Das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91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7F9E39-5B98-EE54-7900-57F78A5A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82A9C-B047-33A8-6067-069457EF7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846023"/>
            <a:ext cx="7188095" cy="576262"/>
          </a:xfrm>
        </p:spPr>
        <p:txBody>
          <a:bodyPr/>
          <a:lstStyle/>
          <a:p>
            <a:r>
              <a:rPr lang="en-US" b="1" dirty="0"/>
              <a:t>Title</a:t>
            </a:r>
            <a:endParaRPr lang="en-IN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FB938-D19C-1666-8183-B87194A98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422285"/>
            <a:ext cx="7188095" cy="330411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Objective</a:t>
            </a:r>
          </a:p>
          <a:p>
            <a:pPr marL="0" indent="0" fontAlgn="base">
              <a:buNone/>
            </a:pPr>
            <a:r>
              <a:rPr lang="en-US" dirty="0"/>
              <a:t>Data Source</a:t>
            </a:r>
          </a:p>
          <a:p>
            <a:pPr marL="0" indent="0" fontAlgn="base">
              <a:buNone/>
            </a:pPr>
            <a:r>
              <a:rPr lang="en-US" dirty="0"/>
              <a:t>Technologies used</a:t>
            </a:r>
          </a:p>
          <a:p>
            <a:pPr marL="0" indent="0" fontAlgn="base">
              <a:buNone/>
            </a:pPr>
            <a:r>
              <a:rPr lang="en-US" dirty="0"/>
              <a:t>Methodology</a:t>
            </a:r>
          </a:p>
          <a:p>
            <a:pPr marL="0" indent="0" fontAlgn="base">
              <a:buNone/>
            </a:pPr>
            <a:r>
              <a:rPr lang="en-US" dirty="0"/>
              <a:t>Model performance</a:t>
            </a:r>
          </a:p>
          <a:p>
            <a:pPr marL="0" indent="0" fontAlgn="base">
              <a:buNone/>
            </a:pPr>
            <a:r>
              <a:rPr lang="en-US" dirty="0"/>
              <a:t>Cluster visualization</a:t>
            </a:r>
          </a:p>
          <a:p>
            <a:pPr marL="0" indent="0" fontAlgn="base">
              <a:buNone/>
            </a:pPr>
            <a:r>
              <a:rPr lang="en-US" dirty="0"/>
              <a:t>Conclusion</a:t>
            </a:r>
          </a:p>
          <a:p>
            <a:pPr marL="0" indent="0" fontAlgn="base">
              <a:buNone/>
            </a:pPr>
            <a:r>
              <a:rPr lang="en-US" dirty="0"/>
              <a:t>Future scope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64C276-8CA1-8F35-4A05-782A30B5F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34960" y="1846023"/>
            <a:ext cx="1339041" cy="576262"/>
          </a:xfrm>
        </p:spPr>
        <p:txBody>
          <a:bodyPr/>
          <a:lstStyle/>
          <a:p>
            <a:r>
              <a:rPr lang="en-US" b="1" dirty="0"/>
              <a:t>Slide No</a:t>
            </a:r>
            <a:endParaRPr lang="en-IN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721573-7575-9154-D4F7-2EA7F16FB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34961" y="2422285"/>
            <a:ext cx="1339041" cy="3304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4</a:t>
            </a:r>
          </a:p>
          <a:p>
            <a:pPr marL="0" indent="0">
              <a:buNone/>
            </a:pPr>
            <a:r>
              <a:rPr lang="en-US" dirty="0"/>
              <a:t>5</a:t>
            </a:r>
          </a:p>
          <a:p>
            <a:pPr marL="0" indent="0">
              <a:buNone/>
            </a:pPr>
            <a:r>
              <a:rPr lang="en-US" dirty="0"/>
              <a:t>6</a:t>
            </a:r>
          </a:p>
          <a:p>
            <a:pPr marL="0" indent="0">
              <a:buNone/>
            </a:pPr>
            <a:r>
              <a:rPr lang="en-US" dirty="0"/>
              <a:t>7</a:t>
            </a:r>
          </a:p>
          <a:p>
            <a:pPr marL="0" indent="0">
              <a:buNone/>
            </a:pPr>
            <a:r>
              <a:rPr lang="en-US" dirty="0"/>
              <a:t>8</a:t>
            </a:r>
          </a:p>
          <a:p>
            <a:pPr marL="0" indent="0">
              <a:buNone/>
            </a:pPr>
            <a:r>
              <a:rPr lang="en-US" dirty="0"/>
              <a:t>9</a:t>
            </a:r>
          </a:p>
          <a:p>
            <a:pPr marL="0" indent="0">
              <a:buNone/>
            </a:pPr>
            <a:r>
              <a:rPr lang="en-US" dirty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1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2704E8E-7AC2-1E22-A596-ED38F3E3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AC1381-A3B7-84AB-17A4-F1E78FFAF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en-US" dirty="0"/>
              <a:t>Develop a machine learning model to cluster NYC shooting incidents</a:t>
            </a:r>
          </a:p>
          <a:p>
            <a:pPr fontAlgn="base"/>
            <a:r>
              <a:rPr lang="en-US" altLang="en-US" dirty="0"/>
              <a:t>Analyze incidents based on time, location, demographics, and jurisdiction</a:t>
            </a:r>
          </a:p>
          <a:p>
            <a:pPr fontAlgn="base"/>
            <a:r>
              <a:rPr lang="en-US" altLang="en-US" dirty="0"/>
              <a:t>Identify patterns and hidden dynamics of gun violence</a:t>
            </a:r>
          </a:p>
          <a:p>
            <a:pPr fontAlgn="base"/>
            <a:r>
              <a:rPr lang="en-US" altLang="en-US" dirty="0"/>
              <a:t>Support law enforcement in tailoring interventions and strategies</a:t>
            </a:r>
          </a:p>
          <a:p>
            <a:pPr fontAlgn="base"/>
            <a:r>
              <a:rPr lang="en-US" altLang="en-US" dirty="0"/>
              <a:t>Promote data-driven decision-making for improved public safety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08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B4B81-6873-B917-DA4E-E2AD2649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78C2E-7364-02A1-2D61-8C384948B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Dataset:</a:t>
            </a:r>
          </a:p>
          <a:p>
            <a:pPr marL="400050" lvl="1" indent="0">
              <a:buNone/>
            </a:pPr>
            <a:r>
              <a:rPr lang="en-US" b="1" dirty="0"/>
              <a:t>NYPD_Shooting_Incident_Data__Historic_.csv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Contains shooting incident records like:</a:t>
            </a:r>
          </a:p>
          <a:p>
            <a:pPr lvl="1"/>
            <a:r>
              <a:rPr lang="en-US" dirty="0"/>
              <a:t>Date, Time, and Borough of incident</a:t>
            </a:r>
          </a:p>
          <a:p>
            <a:pPr lvl="1"/>
            <a:r>
              <a:rPr lang="en-US" dirty="0"/>
              <a:t>Victim and perpetrator demographics (age, sex, race)</a:t>
            </a:r>
          </a:p>
          <a:p>
            <a:pPr lvl="1"/>
            <a:r>
              <a:rPr lang="en-US" dirty="0"/>
              <a:t>Location details (precinct, jurisdiction, latitude and longitude)</a:t>
            </a:r>
          </a:p>
          <a:p>
            <a:pPr lvl="1"/>
            <a:r>
              <a:rPr lang="en-US" dirty="0"/>
              <a:t>Weapon used</a:t>
            </a:r>
          </a:p>
          <a:p>
            <a:pPr lvl="1"/>
            <a:r>
              <a:rPr lang="en-US" dirty="0"/>
              <a:t>Arrest information and outcome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923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253A-04E7-8E9F-C5BA-D91A7A32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0140E-F3D3-EB4E-0395-8EE595CE0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en-US" b="1" dirty="0"/>
              <a:t>Python: </a:t>
            </a:r>
            <a:r>
              <a:rPr lang="en-US" altLang="en-US" dirty="0"/>
              <a:t>Data preprocessing, model experimentation</a:t>
            </a:r>
          </a:p>
          <a:p>
            <a:pPr fontAlgn="base"/>
            <a:r>
              <a:rPr lang="en-US" altLang="en-US" b="1" dirty="0" err="1"/>
              <a:t>Jupyter</a:t>
            </a:r>
            <a:r>
              <a:rPr lang="en-US" altLang="en-US" b="1" dirty="0"/>
              <a:t> Notebook: </a:t>
            </a:r>
            <a:r>
              <a:rPr lang="en-US" altLang="en-US" dirty="0"/>
              <a:t>For model development (</a:t>
            </a:r>
            <a:r>
              <a:rPr lang="en-IN" dirty="0" err="1"/>
              <a:t>model.ipynb</a:t>
            </a:r>
            <a:r>
              <a:rPr lang="en-US" altLang="en-US" dirty="0"/>
              <a:t>)</a:t>
            </a:r>
          </a:p>
          <a:p>
            <a:pPr fontAlgn="base"/>
            <a:r>
              <a:rPr lang="en-US" altLang="en-US" b="1" dirty="0"/>
              <a:t>Machine Learning: </a:t>
            </a:r>
            <a:r>
              <a:rPr lang="en-US" altLang="en-US" dirty="0"/>
              <a:t>K-Means Clustering for clustering shooting </a:t>
            </a:r>
            <a:r>
              <a:rPr lang="en-US" altLang="en-US" dirty="0" err="1"/>
              <a:t>incedents</a:t>
            </a:r>
            <a:endParaRPr lang="en-US" altLang="en-US" dirty="0"/>
          </a:p>
          <a:p>
            <a:pPr fontAlgn="base"/>
            <a:r>
              <a:rPr lang="en-US" altLang="en-US" b="1" dirty="0"/>
              <a:t>Power BI: </a:t>
            </a:r>
            <a:r>
              <a:rPr lang="en-US" altLang="en-US" dirty="0"/>
              <a:t>Data visualization and interactive dashboard (</a:t>
            </a:r>
            <a:r>
              <a:rPr lang="en-US" altLang="en-US" dirty="0" err="1"/>
              <a:t>NYPD_Shooting_Incident_Dashboard.pbix</a:t>
            </a:r>
            <a:r>
              <a:rPr lang="en-US" altLang="en-US" dirty="0"/>
              <a:t>)</a:t>
            </a:r>
          </a:p>
          <a:p>
            <a:pPr fontAlgn="base"/>
            <a:r>
              <a:rPr lang="en-US" altLang="en-US" b="1" dirty="0"/>
              <a:t>Libraries Used: </a:t>
            </a:r>
            <a:r>
              <a:rPr lang="en-US" altLang="en-US" dirty="0"/>
              <a:t>pandas, </a:t>
            </a:r>
            <a:r>
              <a:rPr lang="en-US" altLang="en-US" dirty="0" err="1"/>
              <a:t>numpy</a:t>
            </a:r>
            <a:r>
              <a:rPr lang="en-US" altLang="en-US" dirty="0"/>
              <a:t>, scikit-learn, matplotlib, seaborn, </a:t>
            </a:r>
            <a:r>
              <a:rPr lang="en-US" altLang="en-US" dirty="0" err="1"/>
              <a:t>cloudpickle</a:t>
            </a:r>
            <a:r>
              <a:rPr lang="en-US" altLang="en-US" dirty="0"/>
              <a:t>, dill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477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B214-3F39-6CAF-6C8D-CAAABACE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3815D-CB46-4D26-5D25-2CD6D2EFC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5441"/>
            <a:ext cx="8596668" cy="442592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Data Preparation</a:t>
            </a:r>
          </a:p>
          <a:p>
            <a:pPr lvl="1" fontAlgn="base"/>
            <a:r>
              <a:rPr lang="en-US" altLang="en-US" dirty="0"/>
              <a:t>Loaded NYPD_Shooting_Incident_Data__Historic_.csv</a:t>
            </a:r>
          </a:p>
          <a:p>
            <a:pPr lvl="1" fontAlgn="base"/>
            <a:r>
              <a:rPr lang="en-US" altLang="en-US" dirty="0"/>
              <a:t>Dropped irrelevant cols (INCIDENT_KEY, LOC_CLASSFCTN_DESC, LOC_OF_OCCUR_DESC, </a:t>
            </a:r>
            <a:r>
              <a:rPr lang="en-US" altLang="en-US" dirty="0" err="1"/>
              <a:t>Lon_Lat</a:t>
            </a:r>
            <a:r>
              <a:rPr lang="en-US" altLang="en-US" dirty="0"/>
              <a:t>)</a:t>
            </a:r>
          </a:p>
          <a:p>
            <a:pPr lvl="1" fontAlgn="base"/>
            <a:r>
              <a:rPr lang="en-US" altLang="en-US" dirty="0"/>
              <a:t>Removed invalid age codes (1020, 1022), handled nulls (mode/mean), dropped duplicates</a:t>
            </a:r>
            <a:endParaRPr lang="en-IN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Preprocessing</a:t>
            </a:r>
          </a:p>
          <a:p>
            <a:pPr lvl="1"/>
            <a:r>
              <a:rPr lang="en-US" dirty="0"/>
              <a:t>Encoded categorical variables with </a:t>
            </a:r>
            <a:r>
              <a:rPr lang="en-US" dirty="0" err="1"/>
              <a:t>LabelEncoder</a:t>
            </a:r>
            <a:endParaRPr lang="en-US" dirty="0"/>
          </a:p>
          <a:p>
            <a:pPr lvl="1"/>
            <a:r>
              <a:rPr lang="en-IN" dirty="0"/>
              <a:t>Standardized features with </a:t>
            </a:r>
            <a:r>
              <a:rPr lang="en-IN" dirty="0" err="1"/>
              <a:t>StandardScaler</a:t>
            </a:r>
            <a:endParaRPr lang="en-IN" dirty="0"/>
          </a:p>
          <a:p>
            <a:pPr lvl="1"/>
            <a:r>
              <a:rPr lang="en-US" dirty="0"/>
              <a:t>Applied PCA (2 components) for dimensionality reduction</a:t>
            </a:r>
            <a:endParaRPr lang="en-IN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 err="1"/>
              <a:t>Modeling</a:t>
            </a:r>
            <a:r>
              <a:rPr lang="en-IN" b="1" dirty="0"/>
              <a:t> and Evaluation</a:t>
            </a:r>
          </a:p>
          <a:p>
            <a:pPr lvl="1"/>
            <a:r>
              <a:rPr lang="en-IN" dirty="0" err="1"/>
              <a:t>KMeans</a:t>
            </a:r>
            <a:r>
              <a:rPr lang="en-IN" dirty="0"/>
              <a:t> clustering (k = 2–100)</a:t>
            </a:r>
          </a:p>
          <a:p>
            <a:pPr lvl="1"/>
            <a:r>
              <a:rPr lang="en-US" dirty="0"/>
              <a:t>Evaluated with Inertia (Elbow) and Silhouette Score</a:t>
            </a:r>
          </a:p>
          <a:p>
            <a:pPr lvl="1"/>
            <a:r>
              <a:rPr lang="en-US" dirty="0"/>
              <a:t>Selected best cluster size, retrained final </a:t>
            </a:r>
            <a:r>
              <a:rPr lang="en-US" dirty="0" err="1"/>
              <a:t>KMeans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6560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F897-DF03-CDD3-5ECA-E91A14C7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4690D-18A6-E6ED-E55C-DE68BA79D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3519"/>
            <a:ext cx="8596668" cy="4547843"/>
          </a:xfrm>
        </p:spPr>
        <p:txBody>
          <a:bodyPr/>
          <a:lstStyle/>
          <a:p>
            <a:r>
              <a:rPr lang="en-US" dirty="0"/>
              <a:t>best no of cluster: 4</a:t>
            </a:r>
          </a:p>
          <a:p>
            <a:r>
              <a:rPr lang="en-US" dirty="0"/>
              <a:t>silhouette score for the cluster: 0.6360330632146993</a:t>
            </a:r>
          </a:p>
          <a:p>
            <a:r>
              <a:rPr lang="en-US" dirty="0"/>
              <a:t>inertia for the cluster: 31138.054773960015</a:t>
            </a:r>
            <a:endParaRPr lang="en-IN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66DF2CD-207A-9448-A637-3AFFF42AF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814320"/>
            <a:ext cx="4082733" cy="311163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02F9BA4-77AA-F793-DCAA-CF8BB303E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781" y="2814319"/>
            <a:ext cx="3939120" cy="311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74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4B869-411A-CE34-4FD4-32E06ADA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Visualization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1D6EE-123F-0D52-502D-C901D7870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73200"/>
            <a:ext cx="8133030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68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48A9-F732-10B5-D258-F94C7E5E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2502E-7063-FF4A-E785-37C2EB128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altLang="en-US" dirty="0"/>
              <a:t>Conducted data cleaning and preprocessing on NYPD shooting incident dataset</a:t>
            </a:r>
          </a:p>
          <a:p>
            <a:pPr lvl="0" fontAlgn="base"/>
            <a:r>
              <a:rPr lang="en-US" altLang="en-US" dirty="0"/>
              <a:t>Applied PCA for dimensionality reduction</a:t>
            </a:r>
          </a:p>
          <a:p>
            <a:pPr lvl="0" fontAlgn="base"/>
            <a:r>
              <a:rPr lang="en-US" altLang="en-US" dirty="0"/>
              <a:t>Built and evaluated </a:t>
            </a:r>
            <a:r>
              <a:rPr lang="en-US" altLang="en-US" dirty="0" err="1"/>
              <a:t>KMeans</a:t>
            </a:r>
            <a:r>
              <a:rPr lang="en-US" altLang="en-US" dirty="0"/>
              <a:t> clustering (k = 2–100)</a:t>
            </a:r>
          </a:p>
          <a:p>
            <a:pPr lvl="0" fontAlgn="base"/>
            <a:r>
              <a:rPr lang="en-US" altLang="en-US" dirty="0"/>
              <a:t>Identified optimal clusters using Silhouette and Elbow methods</a:t>
            </a:r>
          </a:p>
          <a:p>
            <a:pPr lvl="0" fontAlgn="base"/>
            <a:r>
              <a:rPr lang="en-US" altLang="en-US" dirty="0"/>
              <a:t>Developed a Power BI dashboard for interactive visualization</a:t>
            </a:r>
          </a:p>
          <a:p>
            <a:pPr lvl="0" fontAlgn="base"/>
            <a:r>
              <a:rPr lang="en-US" altLang="en-US" dirty="0"/>
              <a:t>Project demonstrates how ML + BI tools can uncover hidden crime patterns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494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B0BC-6CA8-CAED-01A5-72075554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135C9-B2EB-7341-B784-30D969B7D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en-US" dirty="0"/>
              <a:t>Extend dataset with recent/live NYPD data for real-time analysis</a:t>
            </a:r>
          </a:p>
          <a:p>
            <a:pPr fontAlgn="base"/>
            <a:r>
              <a:rPr lang="en-US" altLang="en-US" dirty="0"/>
              <a:t>Apply advanced clustering methods (DBSCAN, Gaussian Mixture Models)</a:t>
            </a:r>
          </a:p>
          <a:p>
            <a:pPr fontAlgn="base"/>
            <a:r>
              <a:rPr lang="en-US" altLang="en-US" dirty="0"/>
              <a:t>Integrate geospatial analysis (crime hotspots and trends by location)</a:t>
            </a:r>
          </a:p>
          <a:p>
            <a:pPr fontAlgn="base"/>
            <a:r>
              <a:rPr lang="en-US" altLang="en-US" dirty="0"/>
              <a:t>Use predictive modeling for crime forecasting</a:t>
            </a:r>
          </a:p>
          <a:p>
            <a:pPr fontAlgn="base"/>
            <a:r>
              <a:rPr lang="en-US" altLang="en-US" dirty="0"/>
              <a:t>Deploy as a web/</a:t>
            </a:r>
            <a:r>
              <a:rPr lang="en-US" altLang="en-US" dirty="0" err="1"/>
              <a:t>streamlit</a:t>
            </a:r>
            <a:r>
              <a:rPr lang="en-US" altLang="en-US" dirty="0"/>
              <a:t> app for broader accessibility</a:t>
            </a:r>
          </a:p>
          <a:p>
            <a:pPr fontAlgn="base"/>
            <a:r>
              <a:rPr lang="en-US" altLang="en-US" dirty="0"/>
              <a:t>Expand methodology for other cities/crime datasets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043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7662-CB75-1BD8-C3CE-A221C62E0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A51DC-9BEF-8257-D448-56740B438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3235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itchFamily="18" charset="0"/>
              </a:rPr>
              <a:t>Please give me feedback of my project.</a:t>
            </a:r>
          </a:p>
          <a:p>
            <a:pPr marL="0" indent="0">
              <a:buNone/>
            </a:pPr>
            <a:r>
              <a:rPr lang="en-US" dirty="0">
                <a:cs typeface="Times New Roman" pitchFamily="18" charset="0"/>
              </a:rPr>
              <a:t>Your feedback will encourage and motivate me.</a:t>
            </a:r>
          </a:p>
          <a:p>
            <a:pPr marL="0" indent="0">
              <a:buNone/>
            </a:pPr>
            <a:br>
              <a:rPr lang="en-US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  <a:hlinkClick r:id="rId2"/>
              </a:rPr>
              <a:t>Click here for feedback form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97AA08-D151-208A-E512-B61ABE238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05" y="3009212"/>
            <a:ext cx="2985416" cy="296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37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022644-6A63-675E-AF52-46224A44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534" y="2486660"/>
            <a:ext cx="8596668" cy="188468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		</a:t>
            </a:r>
            <a:br>
              <a:rPr lang="en-US" sz="5400" dirty="0"/>
            </a:br>
            <a:r>
              <a:rPr lang="en-US" sz="5400" dirty="0"/>
              <a:t>		you..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8389360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113</TotalTime>
  <Words>471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Times New Roman</vt:lpstr>
      <vt:lpstr>Trebuchet MS</vt:lpstr>
      <vt:lpstr>Wingdings</vt:lpstr>
      <vt:lpstr>Wingdings 3</vt:lpstr>
      <vt:lpstr>Facet</vt:lpstr>
      <vt:lpstr>NYC Shooting Cluster Analysis</vt:lpstr>
      <vt:lpstr>Index</vt:lpstr>
      <vt:lpstr>Objective</vt:lpstr>
      <vt:lpstr>Data Source</vt:lpstr>
      <vt:lpstr>Technologies used</vt:lpstr>
      <vt:lpstr>Methodology</vt:lpstr>
      <vt:lpstr>Model Performance</vt:lpstr>
      <vt:lpstr>Cluster Visualization</vt:lpstr>
      <vt:lpstr>Conclusion </vt:lpstr>
      <vt:lpstr>Future Scope</vt:lpstr>
      <vt:lpstr>Feedback</vt:lpstr>
      <vt:lpstr>Thank     you..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Pritam Das</dc:creator>
  <cp:lastModifiedBy>Pritam Das</cp:lastModifiedBy>
  <cp:revision>1</cp:revision>
  <dcterms:created xsi:type="dcterms:W3CDTF">2025-09-26T14:10:59Z</dcterms:created>
  <dcterms:modified xsi:type="dcterms:W3CDTF">2025-09-26T16:04:13Z</dcterms:modified>
</cp:coreProperties>
</file>